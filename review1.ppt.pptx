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62" r:id="rId3"/>
    <p:sldId id="707" r:id="rId4"/>
    <p:sldId id="904" r:id="rId5"/>
    <p:sldId id="257" r:id="rId6"/>
    <p:sldId id="906" r:id="rId7"/>
    <p:sldId id="902" r:id="rId8"/>
    <p:sldId id="903" r:id="rId9"/>
    <p:sldId id="905" r:id="rId10"/>
    <p:sldId id="258" r:id="rId11"/>
    <p:sldId id="259" r:id="rId12"/>
    <p:sldId id="260" r:id="rId13"/>
    <p:sldId id="907" r:id="rId14"/>
    <p:sldId id="908" r:id="rId15"/>
    <p:sldId id="91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206CD6-4656-48B7-981B-1C906556BF4A}" v="14" dt="2026-08-20T06:24:02.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91" d="100"/>
          <a:sy n="91"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6</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537134383"/>
              </p:ext>
            </p:extLst>
          </p:nvPr>
        </p:nvGraphicFramePr>
        <p:xfrm>
          <a:off x="8456352" y="4136800"/>
          <a:ext cx="3702050" cy="1876425"/>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 : </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J.NANDINI-2420030262</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S.SAI SARANAYA-2420030266</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TANMAYI.S -2420030097</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600" b="1" dirty="0" err="1">
                          <a:solidFill>
                            <a:srgbClr val="C00000"/>
                          </a:solidFill>
                          <a:latin typeface="Times New Roman" panose="02020603050405020304" pitchFamily="18" charset="0"/>
                          <a:cs typeface="Times New Roman" panose="02020603050405020304" pitchFamily="18" charset="0"/>
                        </a:rPr>
                        <a:t>B.Sai</a:t>
                      </a:r>
                      <a:r>
                        <a:rPr lang="en-IN" sz="1600" b="1" dirty="0">
                          <a:solidFill>
                            <a:srgbClr val="C00000"/>
                          </a:solidFill>
                          <a:latin typeface="Times New Roman" panose="02020603050405020304" pitchFamily="18" charset="0"/>
                          <a:cs typeface="Times New Roman" panose="02020603050405020304" pitchFamily="18" charset="0"/>
                        </a:rPr>
                        <a:t> Charan -2420030364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249907367"/>
              </p:ext>
            </p:extLst>
          </p:nvPr>
        </p:nvGraphicFramePr>
        <p:xfrm>
          <a:off x="845906" y="4748074"/>
          <a:ext cx="7380177" cy="1869440"/>
        </p:xfrm>
        <a:graphic>
          <a:graphicData uri="http://schemas.openxmlformats.org/drawingml/2006/table">
            <a:tbl>
              <a:tblPr firstRow="1" bandRow="1">
                <a:tableStyleId>{5940675A-B579-460E-94D1-54222C63F5DA}</a:tableStyleId>
              </a:tblPr>
              <a:tblGrid>
                <a:gridCol w="7171897">
                  <a:extLst>
                    <a:ext uri="{9D8B030D-6E8A-4147-A177-3AD203B41FA5}">
                      <a16:colId xmlns:a16="http://schemas.microsoft.com/office/drawing/2014/main" val="40058472"/>
                    </a:ext>
                  </a:extLst>
                </a:gridCol>
                <a:gridCol w="208280">
                  <a:extLst>
                    <a:ext uri="{9D8B030D-6E8A-4147-A177-3AD203B41FA5}">
                      <a16:colId xmlns:a16="http://schemas.microsoft.com/office/drawing/2014/main" val="1330242319"/>
                    </a:ext>
                  </a:extLst>
                </a:gridCol>
              </a:tblGrid>
              <a:tr h="1443773">
                <a:tc>
                  <a:txBody>
                    <a:bodyPr/>
                    <a:lstStyle/>
                    <a:p>
                      <a:r>
                        <a:rPr lang="en-IN" sz="20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8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8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8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8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8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800" dirty="0">
                          <a:solidFill>
                            <a:schemeClr val="dk1"/>
                          </a:solidFill>
                          <a:latin typeface="Times New Roman" panose="02020603050405020304" pitchFamily="18" charset="0"/>
                          <a:ea typeface="Cambria"/>
                          <a:cs typeface="Times New Roman" panose="02020603050405020304" pitchFamily="18" charset="0"/>
                          <a:sym typeface="Cambria"/>
                        </a:rPr>
                        <a:t>KLH CSE </a:t>
                      </a:r>
                      <a:r>
                        <a:rPr lang="en-US" sz="1800" dirty="0" err="1">
                          <a:solidFill>
                            <a:schemeClr val="dk1"/>
                          </a:solidFill>
                          <a:latin typeface="Times New Roman" panose="02020603050405020304" pitchFamily="18" charset="0"/>
                          <a:ea typeface="Cambria"/>
                          <a:cs typeface="Times New Roman" panose="02020603050405020304" pitchFamily="18" charset="0"/>
                          <a:sym typeface="Cambria"/>
                        </a:rPr>
                        <a:t>Bowrampet</a:t>
                      </a:r>
                      <a:r>
                        <a:rPr lang="en-US" sz="1800" dirty="0">
                          <a:solidFill>
                            <a:schemeClr val="dk1"/>
                          </a:solidFill>
                          <a:latin typeface="Times New Roman" panose="02020603050405020304" pitchFamily="18" charset="0"/>
                          <a:ea typeface="Cambria"/>
                          <a:cs typeface="Times New Roman" panose="02020603050405020304" pitchFamily="18" charset="0"/>
                          <a:sym typeface="Cambria"/>
                        </a:rPr>
                        <a:t> Campus</a:t>
                      </a:r>
                      <a:endParaRPr lang="en-US" sz="1800" dirty="0">
                        <a:solidFill>
                          <a:schemeClr val="dk1"/>
                        </a:solidFill>
                        <a:latin typeface="Times New Roman" panose="02020603050405020304" pitchFamily="18" charset="0"/>
                        <a:ea typeface="Cambria"/>
                        <a:cs typeface="Times New Roman" panose="02020603050405020304" pitchFamily="18" charset="0"/>
                        <a:sym typeface="Arial"/>
                      </a:endParaRPr>
                    </a:p>
                    <a:p>
                      <a:endParaRPr lang="en-US" sz="18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1964055" y="2551837"/>
            <a:ext cx="10715625" cy="1754326"/>
          </a:xfrm>
          <a:prstGeom prst="rect">
            <a:avLst/>
          </a:prstGeom>
          <a:noFill/>
        </p:spPr>
        <p:txBody>
          <a:bodyPr wrap="square">
            <a:spAutoFit/>
          </a:bodyPr>
          <a:lstStyle/>
          <a:p>
            <a:r>
              <a:rPr dirty="0" err="1"/>
              <a:t>FarmPulse</a:t>
            </a:r>
            <a:r>
              <a:rPr dirty="0"/>
              <a:t> AI – SOA-Driven Real-Time Crop Monitoring and Predictive Agriculture</a:t>
            </a:r>
          </a:p>
        </p:txBody>
      </p:sp>
      <p:sp>
        <p:nvSpPr>
          <p:cNvPr id="17" name="TextBox 16">
            <a:extLst>
              <a:ext uri="{FF2B5EF4-FFF2-40B4-BE49-F238E27FC236}">
                <a16:creationId xmlns:a16="http://schemas.microsoft.com/office/drawing/2014/main" id="{D25BC1A0-FDE4-1557-375E-6E0BD69BC77B}"/>
              </a:ext>
            </a:extLst>
          </p:cNvPr>
          <p:cNvSpPr txBox="1"/>
          <p:nvPr/>
        </p:nvSpPr>
        <p:spPr>
          <a:xfrm>
            <a:off x="941387" y="953651"/>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grpSp>
        <p:nvGrpSpPr>
          <p:cNvPr id="2" name="Group 1">
            <a:extLst>
              <a:ext uri="{FF2B5EF4-FFF2-40B4-BE49-F238E27FC236}">
                <a16:creationId xmlns:a16="http://schemas.microsoft.com/office/drawing/2014/main" id="{7D8550AA-D82D-BA44-3C72-E5849717B41B}"/>
              </a:ext>
            </a:extLst>
          </p:cNvPr>
          <p:cNvGrpSpPr/>
          <p:nvPr/>
        </p:nvGrpSpPr>
        <p:grpSpPr>
          <a:xfrm>
            <a:off x="442519" y="4562547"/>
            <a:ext cx="230240" cy="232995"/>
            <a:chOff x="1567861" y="1613059"/>
            <a:chExt cx="230240" cy="232995"/>
          </a:xfrm>
          <a:solidFill>
            <a:srgbClr val="00B0F0"/>
          </a:solidFill>
        </p:grpSpPr>
        <p:sp>
          <p:nvSpPr>
            <p:cNvPr id="3" name="Isosceles Triangle 2">
              <a:extLst>
                <a:ext uri="{FF2B5EF4-FFF2-40B4-BE49-F238E27FC236}">
                  <a16:creationId xmlns:a16="http://schemas.microsoft.com/office/drawing/2014/main" id="{981F4B29-5201-966E-CBCD-FBEEB0D16700}"/>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5" name="Isosceles Triangle 4">
              <a:extLst>
                <a:ext uri="{FF2B5EF4-FFF2-40B4-BE49-F238E27FC236}">
                  <a16:creationId xmlns:a16="http://schemas.microsoft.com/office/drawing/2014/main" id="{DAB0FF87-ED3C-950D-6F92-A4BA6425B32E}"/>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6" name="Group 5">
            <a:extLst>
              <a:ext uri="{FF2B5EF4-FFF2-40B4-BE49-F238E27FC236}">
                <a16:creationId xmlns:a16="http://schemas.microsoft.com/office/drawing/2014/main" id="{32073324-CF6A-D32B-5314-1A02E772D7A6}"/>
              </a:ext>
            </a:extLst>
          </p:cNvPr>
          <p:cNvGrpSpPr/>
          <p:nvPr/>
        </p:nvGrpSpPr>
        <p:grpSpPr>
          <a:xfrm>
            <a:off x="8283235" y="3912813"/>
            <a:ext cx="230240" cy="232995"/>
            <a:chOff x="1567861" y="1613059"/>
            <a:chExt cx="230240" cy="232995"/>
          </a:xfrm>
          <a:solidFill>
            <a:srgbClr val="FF66FF"/>
          </a:solidFill>
        </p:grpSpPr>
        <p:sp>
          <p:nvSpPr>
            <p:cNvPr id="8" name="Isosceles Triangle 7">
              <a:extLst>
                <a:ext uri="{FF2B5EF4-FFF2-40B4-BE49-F238E27FC236}">
                  <a16:creationId xmlns:a16="http://schemas.microsoft.com/office/drawing/2014/main" id="{6D10E859-388A-0D8D-9159-8F06CFA9E6C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9" name="Isosceles Triangle 8">
              <a:extLst>
                <a:ext uri="{FF2B5EF4-FFF2-40B4-BE49-F238E27FC236}">
                  <a16:creationId xmlns:a16="http://schemas.microsoft.com/office/drawing/2014/main" id="{91492453-103C-DE82-C18C-D28EF83BC8B5}"/>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14-08-2026</a:t>
            </a: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F60A5-5C53-9CD0-71BA-40B4AA7614E2}"/>
              </a:ext>
            </a:extLst>
          </p:cNvPr>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a:extLst>
              <a:ext uri="{FF2B5EF4-FFF2-40B4-BE49-F238E27FC236}">
                <a16:creationId xmlns:a16="http://schemas.microsoft.com/office/drawing/2014/main" id="{DD94E0D6-B7B5-85F1-6170-437B0F3C6B8D}"/>
              </a:ext>
            </a:extLst>
          </p:cNvPr>
          <p:cNvSpPr>
            <a:spLocks noGrp="1"/>
          </p:cNvSpPr>
          <p:nvPr>
            <p:ph type="ftr" sz="quarter" idx="11"/>
          </p:nvPr>
        </p:nvSpPr>
        <p:spPr/>
        <p:txBody>
          <a:bodyPr/>
          <a:lstStyle/>
          <a:p>
            <a:r>
              <a:rPr lang="en-IN"/>
              <a:t>Ph.D. Viva Voce</a:t>
            </a:r>
          </a:p>
        </p:txBody>
      </p:sp>
      <p:sp>
        <p:nvSpPr>
          <p:cNvPr id="4" name="Slide Number Placeholder 3">
            <a:extLst>
              <a:ext uri="{FF2B5EF4-FFF2-40B4-BE49-F238E27FC236}">
                <a16:creationId xmlns:a16="http://schemas.microsoft.com/office/drawing/2014/main" id="{2EC910D1-CA98-EA0B-E6C9-62910006F9EE}"/>
              </a:ext>
            </a:extLst>
          </p:cNvPr>
          <p:cNvSpPr>
            <a:spLocks noGrp="1"/>
          </p:cNvSpPr>
          <p:nvPr>
            <p:ph type="sldNum" sz="quarter" idx="12"/>
          </p:nvPr>
        </p:nvSpPr>
        <p:spPr/>
        <p:txBody>
          <a:bodyPr/>
          <a:lstStyle/>
          <a:p>
            <a:fld id="{01AD1135-6E10-4422-AC8B-257B84239C9C}" type="slidenum">
              <a:rPr lang="en-IN" smtClean="0"/>
              <a:t>3</a:t>
            </a:fld>
            <a:endParaRPr lang="en-IN"/>
          </a:p>
        </p:txBody>
      </p:sp>
      <p:sp>
        <p:nvSpPr>
          <p:cNvPr id="6" name="TextBox 5">
            <a:extLst>
              <a:ext uri="{FF2B5EF4-FFF2-40B4-BE49-F238E27FC236}">
                <a16:creationId xmlns:a16="http://schemas.microsoft.com/office/drawing/2014/main" id="{70D1F818-8DBC-8F2B-E239-6658640969C4}"/>
              </a:ext>
            </a:extLst>
          </p:cNvPr>
          <p:cNvSpPr txBox="1"/>
          <p:nvPr/>
        </p:nvSpPr>
        <p:spPr>
          <a:xfrm>
            <a:off x="4281949" y="587845"/>
            <a:ext cx="6096000" cy="646331"/>
          </a:xfrm>
          <a:prstGeom prst="rect">
            <a:avLst/>
          </a:prstGeom>
          <a:noFill/>
        </p:spPr>
        <p:txBody>
          <a:bodyPr wrap="square">
            <a:spAutoFit/>
          </a:bodyPr>
          <a:lstStyle/>
          <a:p>
            <a:r>
              <a:rPr lang="en-US" sz="3600" b="1" dirty="0"/>
              <a:t>Focus</a:t>
            </a:r>
          </a:p>
        </p:txBody>
      </p:sp>
      <p:sp>
        <p:nvSpPr>
          <p:cNvPr id="8" name="TextBox 7">
            <a:extLst>
              <a:ext uri="{FF2B5EF4-FFF2-40B4-BE49-F238E27FC236}">
                <a16:creationId xmlns:a16="http://schemas.microsoft.com/office/drawing/2014/main" id="{CB821B22-04E8-606F-F28F-C001547D5F63}"/>
              </a:ext>
            </a:extLst>
          </p:cNvPr>
          <p:cNvSpPr txBox="1"/>
          <p:nvPr/>
        </p:nvSpPr>
        <p:spPr>
          <a:xfrm>
            <a:off x="980933" y="1685497"/>
            <a:ext cx="9320980" cy="3768211"/>
          </a:xfrm>
          <a:prstGeom prst="rect">
            <a:avLst/>
          </a:prstGeom>
          <a:noFill/>
        </p:spPr>
        <p:txBody>
          <a:bodyPr wrap="square">
            <a:spAutoFit/>
          </a:bodyPr>
          <a:lstStyle/>
          <a:p>
            <a:pPr marL="285750" lvl="0" indent="-285750">
              <a:buFont typeface="Wingdings" panose="05000000000000000000" pitchFamily="2" charset="2"/>
              <a:buChar char="§"/>
            </a:pPr>
            <a:r>
              <a:rPr lang="en-IN" b="1" dirty="0"/>
              <a:t>Real-Time Crop Monitoring:</a:t>
            </a:r>
            <a:r>
              <a:rPr lang="en-IN" dirty="0"/>
              <a:t> Continuously monitor important environmental parameters such as temperature, humidity, soil moisture, light intensity, and rainfall. </a:t>
            </a:r>
          </a:p>
          <a:p>
            <a:pPr marL="285750" lvl="0" indent="-285750">
              <a:buFont typeface="Wingdings" panose="05000000000000000000" pitchFamily="2" charset="2"/>
              <a:buChar char="§"/>
            </a:pPr>
            <a:r>
              <a:rPr lang="en-IN" b="1" dirty="0"/>
              <a:t>Predictive Agriculture:</a:t>
            </a:r>
            <a:r>
              <a:rPr lang="en-IN" dirty="0"/>
              <a:t> </a:t>
            </a:r>
            <a:r>
              <a:rPr lang="en-IN" dirty="0" err="1"/>
              <a:t>Analyze</a:t>
            </a:r>
            <a:r>
              <a:rPr lang="en-IN" dirty="0"/>
              <a:t> real-time and historical environmental data to predict crop health, water stress, and possible </a:t>
            </a:r>
            <a:r>
              <a:rPr lang="en-IN" dirty="0" err="1"/>
              <a:t>unfavorable</a:t>
            </a:r>
            <a:r>
              <a:rPr lang="en-IN" dirty="0"/>
              <a:t> growing conditions. </a:t>
            </a:r>
          </a:p>
          <a:p>
            <a:pPr marL="285750" lvl="0" indent="-285750">
              <a:buFont typeface="Wingdings" panose="05000000000000000000" pitchFamily="2" charset="2"/>
              <a:buChar char="§"/>
            </a:pPr>
            <a:r>
              <a:rPr lang="en-IN" b="1" dirty="0"/>
              <a:t>AI-Based Decision Support:</a:t>
            </a:r>
            <a:r>
              <a:rPr lang="en-IN" dirty="0"/>
              <a:t> Use AI/ML techniques to identify patterns in crop environmental data and provide intelligent predictions and recommendations. </a:t>
            </a:r>
          </a:p>
          <a:p>
            <a:pPr marL="285750" lvl="0" indent="-285750">
              <a:buFont typeface="Wingdings" panose="05000000000000000000" pitchFamily="2" charset="2"/>
              <a:buChar char="§"/>
            </a:pPr>
            <a:r>
              <a:rPr lang="en-IN" b="1" dirty="0"/>
              <a:t>SOA-Based System Design:</a:t>
            </a:r>
            <a:r>
              <a:rPr lang="en-IN" dirty="0"/>
              <a:t> Develop the application as independent services for sensor data collection, data processing, crop prediction, recommendations, and monitoring. </a:t>
            </a:r>
          </a:p>
          <a:p>
            <a:pPr marL="285750" lvl="0" indent="-285750">
              <a:buFont typeface="Wingdings" panose="05000000000000000000" pitchFamily="2" charset="2"/>
              <a:buChar char="§"/>
            </a:pPr>
            <a:r>
              <a:rPr lang="en-IN" b="1" dirty="0"/>
              <a:t>Smart Recommendations:</a:t>
            </a:r>
            <a:r>
              <a:rPr lang="en-IN" dirty="0"/>
              <a:t> Generate useful actions and alerts, such as irrigation requirements when soil moisture becomes low or environmental conditions become stressful. </a:t>
            </a:r>
          </a:p>
          <a:p>
            <a:pPr marL="285750" lvl="0" indent="-285750">
              <a:buFont typeface="Wingdings" panose="05000000000000000000" pitchFamily="2" charset="2"/>
              <a:buChar char="§"/>
            </a:pPr>
            <a:r>
              <a:rPr lang="en-IN" b="1" dirty="0"/>
              <a:t>Real-Time Data Visualization:</a:t>
            </a:r>
            <a:r>
              <a:rPr lang="en-IN" dirty="0"/>
              <a:t> Display live crop conditions, prediction results, historical trends, and alerts through an interactive dashboard.</a:t>
            </a:r>
          </a:p>
          <a:p>
            <a:pPr>
              <a:lnSpc>
                <a:spcPct val="150000"/>
              </a:lnSpc>
              <a:buNone/>
              <a:defRPr sz="1700"/>
            </a:pPr>
            <a:endParaRPr dirty="0"/>
          </a:p>
        </p:txBody>
      </p:sp>
    </p:spTree>
    <p:extLst>
      <p:ext uri="{BB962C8B-B14F-4D97-AF65-F5344CB8AC3E}">
        <p14:creationId xmlns:p14="http://schemas.microsoft.com/office/powerpoint/2010/main" val="3381156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2801539" y="575185"/>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1D0E5BD-70C7-4B25-DDEF-FD2AD65A179D}"/>
              </a:ext>
            </a:extLst>
          </p:cNvPr>
          <p:cNvSpPr txBox="1"/>
          <p:nvPr/>
        </p:nvSpPr>
        <p:spPr>
          <a:xfrm>
            <a:off x="756100" y="1820482"/>
            <a:ext cx="10343536" cy="3217035"/>
          </a:xfrm>
          <a:prstGeom prst="rect">
            <a:avLst/>
          </a:prstGeom>
          <a:noFill/>
        </p:spPr>
        <p:txBody>
          <a:bodyPr wrap="square" rtlCol="0">
            <a:spAutoFit/>
          </a:bodyPr>
          <a:lstStyle/>
          <a:p>
            <a:r>
              <a:rPr lang="en-IN" dirty="0"/>
              <a:t>Agriculture depends heavily on environmental conditions such as </a:t>
            </a:r>
            <a:r>
              <a:rPr lang="en-IN" b="1" dirty="0"/>
              <a:t>temperature, humidity, soil moisture, light intensity, and rainfall</a:t>
            </a:r>
            <a:r>
              <a:rPr lang="en-IN" dirty="0"/>
              <a:t>. However, traditional crop monitoring often relies on manual observation and periodic checking, making it difficult to continuously track changing farm conditions. Delayed identification of low soil moisture, high temperature, or other </a:t>
            </a:r>
            <a:r>
              <a:rPr lang="en-IN" dirty="0" err="1"/>
              <a:t>unfavorable</a:t>
            </a:r>
            <a:r>
              <a:rPr lang="en-IN" dirty="0"/>
              <a:t> conditions can lead to </a:t>
            </a:r>
            <a:r>
              <a:rPr lang="en-IN" b="1" dirty="0"/>
              <a:t>crop stress, inefficient irrigation, water wastage, and reduced productivity</a:t>
            </a:r>
            <a:r>
              <a:rPr lang="en-IN" dirty="0"/>
              <a:t>.</a:t>
            </a:r>
          </a:p>
          <a:p>
            <a:r>
              <a:rPr lang="en-IN" b="1" dirty="0" err="1"/>
              <a:t>FarmPulse</a:t>
            </a:r>
            <a:r>
              <a:rPr lang="en-IN" b="1" dirty="0"/>
              <a:t> AI</a:t>
            </a:r>
            <a:r>
              <a:rPr lang="en-IN" dirty="0"/>
              <a:t> addresses this challenge by developing an </a:t>
            </a:r>
            <a:r>
              <a:rPr lang="en-IN" b="1" dirty="0"/>
              <a:t>SOA-driven real-time crop monitoring and predictive agriculture system</a:t>
            </a:r>
            <a:r>
              <a:rPr lang="en-IN" dirty="0"/>
              <a:t>. The system collects simulated environmental data, processes it through independent services, and uses AI/ML to predict crop health and stress levels. It also generates smart recommendations, such as irrigation alerts, and provides real-time monitoring through an interactive dashboard.</a:t>
            </a:r>
          </a:p>
          <a:p>
            <a:pPr>
              <a:lnSpc>
                <a:spcPct val="150000"/>
              </a:lnSpc>
              <a:defRPr sz="1700"/>
            </a:pPr>
            <a:endParaRPr dirty="0"/>
          </a:p>
        </p:txBody>
      </p:sp>
    </p:spTree>
    <p:extLst>
      <p:ext uri="{BB962C8B-B14F-4D97-AF65-F5344CB8AC3E}">
        <p14:creationId xmlns:p14="http://schemas.microsoft.com/office/powerpoint/2010/main" val="184393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D84E83-FE99-17D8-CA04-921431E795F1}"/>
              </a:ext>
            </a:extLst>
          </p:cNvPr>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a:extLst>
              <a:ext uri="{FF2B5EF4-FFF2-40B4-BE49-F238E27FC236}">
                <a16:creationId xmlns:a16="http://schemas.microsoft.com/office/drawing/2014/main" id="{5E5A8E8B-058F-D1B3-59F7-B8993AC84A0C}"/>
              </a:ext>
            </a:extLst>
          </p:cNvPr>
          <p:cNvSpPr>
            <a:spLocks noGrp="1"/>
          </p:cNvSpPr>
          <p:nvPr>
            <p:ph type="ftr" sz="quarter" idx="11"/>
          </p:nvPr>
        </p:nvSpPr>
        <p:spPr/>
        <p:txBody>
          <a:bodyPr/>
          <a:lstStyle/>
          <a:p>
            <a:r>
              <a:rPr lang="en-IN" dirty="0"/>
              <a:t>Ph.D. Viva Voce</a:t>
            </a:r>
          </a:p>
        </p:txBody>
      </p:sp>
      <p:sp>
        <p:nvSpPr>
          <p:cNvPr id="4" name="Slide Number Placeholder 3">
            <a:extLst>
              <a:ext uri="{FF2B5EF4-FFF2-40B4-BE49-F238E27FC236}">
                <a16:creationId xmlns:a16="http://schemas.microsoft.com/office/drawing/2014/main" id="{732A4C3B-C894-3C7F-BDBD-47C83716A6BE}"/>
              </a:ext>
            </a:extLst>
          </p:cNvPr>
          <p:cNvSpPr>
            <a:spLocks noGrp="1"/>
          </p:cNvSpPr>
          <p:nvPr>
            <p:ph type="sldNum" sz="quarter" idx="12"/>
          </p:nvPr>
        </p:nvSpPr>
        <p:spPr/>
        <p:txBody>
          <a:bodyPr/>
          <a:lstStyle/>
          <a:p>
            <a:fld id="{01AD1135-6E10-4422-AC8B-257B84239C9C}" type="slidenum">
              <a:rPr lang="en-IN" smtClean="0"/>
              <a:t>5</a:t>
            </a:fld>
            <a:endParaRPr lang="en-IN"/>
          </a:p>
        </p:txBody>
      </p:sp>
      <p:sp>
        <p:nvSpPr>
          <p:cNvPr id="6" name="TextBox 5">
            <a:extLst>
              <a:ext uri="{FF2B5EF4-FFF2-40B4-BE49-F238E27FC236}">
                <a16:creationId xmlns:a16="http://schemas.microsoft.com/office/drawing/2014/main" id="{62734360-1909-D32C-8AE8-27721275933D}"/>
              </a:ext>
            </a:extLst>
          </p:cNvPr>
          <p:cNvSpPr txBox="1"/>
          <p:nvPr/>
        </p:nvSpPr>
        <p:spPr>
          <a:xfrm>
            <a:off x="4807975" y="46563"/>
            <a:ext cx="6096000" cy="646331"/>
          </a:xfrm>
          <a:prstGeom prst="rect">
            <a:avLst/>
          </a:prstGeom>
          <a:noFill/>
        </p:spPr>
        <p:txBody>
          <a:bodyPr wrap="square">
            <a:spAutoFit/>
          </a:bodyPr>
          <a:lstStyle/>
          <a:p>
            <a:r>
              <a:rPr lang="en-US" sz="3600" b="1" dirty="0"/>
              <a:t>Introduction</a:t>
            </a:r>
          </a:p>
        </p:txBody>
      </p:sp>
      <p:sp>
        <p:nvSpPr>
          <p:cNvPr id="8" name="TextBox 7">
            <a:extLst>
              <a:ext uri="{FF2B5EF4-FFF2-40B4-BE49-F238E27FC236}">
                <a16:creationId xmlns:a16="http://schemas.microsoft.com/office/drawing/2014/main" id="{8596BF14-C93D-E0E9-E7C4-0740BA25623B}"/>
              </a:ext>
            </a:extLst>
          </p:cNvPr>
          <p:cNvSpPr txBox="1"/>
          <p:nvPr/>
        </p:nvSpPr>
        <p:spPr>
          <a:xfrm>
            <a:off x="702760" y="1078229"/>
            <a:ext cx="11152239" cy="4045210"/>
          </a:xfrm>
          <a:prstGeom prst="rect">
            <a:avLst/>
          </a:prstGeom>
          <a:noFill/>
        </p:spPr>
        <p:txBody>
          <a:bodyPr wrap="square">
            <a:spAutoFit/>
          </a:bodyPr>
          <a:lstStyle/>
          <a:p>
            <a:r>
              <a:rPr lang="en-IN" dirty="0"/>
              <a:t>Agriculture plays a vital role in food production, but crop growth is highly influenced by changing environmental conditions such as </a:t>
            </a:r>
            <a:r>
              <a:rPr lang="en-IN" b="1" dirty="0"/>
              <a:t>temperature, humidity, soil moisture, light intensity, and rainfall</a:t>
            </a:r>
            <a:r>
              <a:rPr lang="en-IN" dirty="0"/>
              <a:t>. Continuous monitoring of these factors is important because </a:t>
            </a:r>
            <a:r>
              <a:rPr lang="en-IN" dirty="0" err="1"/>
              <a:t>unfavorable</a:t>
            </a:r>
            <a:r>
              <a:rPr lang="en-IN" dirty="0"/>
              <a:t> conditions can cause crop stress, reduce productivity, and lead to inefficient use of resources such as water.</a:t>
            </a:r>
          </a:p>
          <a:p>
            <a:r>
              <a:rPr lang="en-IN" b="1" dirty="0" err="1"/>
              <a:t>FarmPulse</a:t>
            </a:r>
            <a:r>
              <a:rPr lang="en-IN" b="1" dirty="0"/>
              <a:t> AI</a:t>
            </a:r>
            <a:r>
              <a:rPr lang="en-IN" dirty="0"/>
              <a:t> is an intelligent </a:t>
            </a:r>
            <a:r>
              <a:rPr lang="en-IN" b="1" dirty="0"/>
              <a:t>SOA-driven real-time crop monitoring and predictive agriculture system</a:t>
            </a:r>
            <a:r>
              <a:rPr lang="en-IN" dirty="0"/>
              <a:t> designed to address this challenge. The system uses simulated IoT sensor data to continuously monitor environmental conditions and transmits the data in real time using MQTT. The application is divided into independent services for data collection, processing, prediction, and recommendation, following the principles of </a:t>
            </a:r>
            <a:r>
              <a:rPr lang="en-IN" b="1" dirty="0"/>
              <a:t>Service-Oriented Architecture (SOA)</a:t>
            </a:r>
            <a:r>
              <a:rPr lang="en-IN" dirty="0"/>
              <a:t>.</a:t>
            </a:r>
          </a:p>
          <a:p>
            <a:r>
              <a:rPr lang="en-IN" dirty="0"/>
              <a:t>The AI/ML component </a:t>
            </a:r>
            <a:r>
              <a:rPr lang="en-IN" dirty="0" err="1"/>
              <a:t>analyzes</a:t>
            </a:r>
            <a:r>
              <a:rPr lang="en-IN" dirty="0"/>
              <a:t> environmental data to predict </a:t>
            </a:r>
            <a:r>
              <a:rPr lang="en-IN" b="1" dirty="0"/>
              <a:t>crop health, water stress, and irrigation requirements</a:t>
            </a:r>
            <a:r>
              <a:rPr lang="en-IN" dirty="0"/>
              <a:t>. The system then generates useful recommendations and displays real-time data, predictions, and alerts through an interactive dashboard. By combining </a:t>
            </a:r>
            <a:r>
              <a:rPr lang="en-IN" b="1" dirty="0"/>
              <a:t>SOA, IoT-style communication, AI/ML, databases, and real-time visualization</a:t>
            </a:r>
            <a:r>
              <a:rPr lang="en-IN" dirty="0"/>
              <a:t>, </a:t>
            </a:r>
            <a:r>
              <a:rPr lang="en-IN" dirty="0" err="1"/>
              <a:t>FarmPulse</a:t>
            </a:r>
            <a:r>
              <a:rPr lang="en-IN" dirty="0"/>
              <a:t> AI aims to support smarter, more efficient, and sustainable agricultural decision-making.</a:t>
            </a:r>
          </a:p>
          <a:p>
            <a:pPr algn="just">
              <a:lnSpc>
                <a:spcPct val="150000"/>
              </a:lnSpc>
              <a:defRPr sz="1700"/>
            </a:pPr>
            <a:endParaRPr dirty="0"/>
          </a:p>
        </p:txBody>
      </p:sp>
    </p:spTree>
    <p:extLst>
      <p:ext uri="{BB962C8B-B14F-4D97-AF65-F5344CB8AC3E}">
        <p14:creationId xmlns:p14="http://schemas.microsoft.com/office/powerpoint/2010/main" val="3740540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733899848"/>
              </p:ext>
            </p:extLst>
          </p:nvPr>
        </p:nvGraphicFramePr>
        <p:xfrm>
          <a:off x="108076" y="1092473"/>
          <a:ext cx="11975845" cy="5021814"/>
        </p:xfrm>
        <a:graphic>
          <a:graphicData uri="http://schemas.openxmlformats.org/drawingml/2006/table">
            <a:tbl>
              <a:tblPr firstRow="1" bandRow="1">
                <a:tableStyleId>{BC89EF96-8CEA-46FF-86C4-4CE0E7609802}</a:tableStyleId>
              </a:tblPr>
              <a:tblGrid>
                <a:gridCol w="142214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725">
                  <a:extLst>
                    <a:ext uri="{9D8B030D-6E8A-4147-A177-3AD203B41FA5}">
                      <a16:colId xmlns:a16="http://schemas.microsoft.com/office/drawing/2014/main" val="20003"/>
                    </a:ext>
                  </a:extLst>
                </a:gridCol>
                <a:gridCol w="2935972">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r>
                        <a:t>Authors</a:t>
                      </a:r>
                    </a:p>
                  </a:txBody>
                  <a:tcPr anchor="ctr">
                    <a:solidFill>
                      <a:srgbClr val="FFFF00"/>
                    </a:solidFill>
                  </a:tcPr>
                </a:tc>
                <a:tc>
                  <a:txBody>
                    <a:bodyPr/>
                    <a:lstStyle/>
                    <a:p>
                      <a:r>
                        <a:t>Title of the Paper</a:t>
                      </a:r>
                    </a:p>
                  </a:txBody>
                  <a:tcPr anchor="ctr">
                    <a:solidFill>
                      <a:srgbClr val="FFFF00"/>
                    </a:solidFill>
                  </a:tcPr>
                </a:tc>
                <a:tc>
                  <a:txBody>
                    <a:bodyPr/>
                    <a:lstStyle/>
                    <a:p>
                      <a:r>
                        <a:t>Methodology</a:t>
                      </a:r>
                    </a:p>
                  </a:txBody>
                  <a:tcPr anchor="ctr">
                    <a:solidFill>
                      <a:srgbClr val="FFFF00"/>
                    </a:solidFill>
                  </a:tcPr>
                </a:tc>
                <a:tc>
                  <a:txBody>
                    <a:bodyPr/>
                    <a:lstStyle/>
                    <a:p>
                      <a:r>
                        <a:t>Inferences</a:t>
                      </a:r>
                    </a:p>
                  </a:txBody>
                  <a:tcPr anchor="ctr">
                    <a:solidFill>
                      <a:srgbClr val="FFFF00"/>
                    </a:solidFill>
                  </a:tcPr>
                </a:tc>
                <a:tc>
                  <a:txBody>
                    <a:bodyPr/>
                    <a:lstStyle/>
                    <a:p>
                      <a:r>
                        <a:t>Limitation / Future Work</a:t>
                      </a:r>
                    </a:p>
                  </a:txBody>
                  <a:tcPr anchor="ctr">
                    <a:solidFill>
                      <a:srgbClr val="FFFF00"/>
                    </a:solidFill>
                  </a:tcPr>
                </a:tc>
                <a:extLst>
                  <a:ext uri="{0D108BD9-81ED-4DB2-BD59-A6C34878D82A}">
                    <a16:rowId xmlns:a16="http://schemas.microsoft.com/office/drawing/2014/main" val="10000"/>
                  </a:ext>
                </a:extLst>
              </a:tr>
              <a:tr h="1541937">
                <a:tc>
                  <a:txBody>
                    <a:bodyPr/>
                    <a:lstStyle/>
                    <a:p>
                      <a:r>
                        <a:t>D. Kamienski et al.</a:t>
                      </a:r>
                    </a:p>
                  </a:txBody>
                  <a:tcPr anchor="ctr"/>
                </a:tc>
                <a:tc>
                  <a:txBody>
                    <a:bodyPr/>
                    <a:lstStyle/>
                    <a:p>
                      <a:r>
                        <a:rPr dirty="0"/>
                        <a:t>Smart Agriculture and IoT Monitoring</a:t>
                      </a:r>
                    </a:p>
                  </a:txBody>
                  <a:tcPr anchor="ctr"/>
                </a:tc>
                <a:tc>
                  <a:txBody>
                    <a:bodyPr/>
                    <a:lstStyle/>
                    <a:p>
                      <a:r>
                        <a:t>Uses distributed sensors and IoT platforms to monitor agricultural conditions.</a:t>
                      </a:r>
                    </a:p>
                  </a:txBody>
                  <a:tcPr anchor="ctr"/>
                </a:tc>
                <a:tc>
                  <a:txBody>
                    <a:bodyPr/>
                    <a:lstStyle/>
                    <a:p>
                      <a:r>
                        <a:t>Continuous sensing improves visibility and data-driven farming.</a:t>
                      </a:r>
                    </a:p>
                  </a:txBody>
                  <a:tcPr anchor="ctr"/>
                </a:tc>
                <a:tc>
                  <a:txBody>
                    <a:bodyPr/>
                    <a:lstStyle/>
                    <a:p>
                      <a:r>
                        <a:t>Focuses mainly on monitoring; FarmPulse AI adds SOA services, prediction and recommendations.</a:t>
                      </a:r>
                    </a:p>
                  </a:txBody>
                  <a:tcPr anchor="ctr"/>
                </a:tc>
                <a:extLst>
                  <a:ext uri="{0D108BD9-81ED-4DB2-BD59-A6C34878D82A}">
                    <a16:rowId xmlns:a16="http://schemas.microsoft.com/office/drawing/2014/main" val="3714155954"/>
                  </a:ext>
                </a:extLst>
              </a:tr>
              <a:tr h="1354600">
                <a:tc>
                  <a:txBody>
                    <a:bodyPr/>
                    <a:lstStyle/>
                    <a:p>
                      <a:r>
                        <a:t>S. Wolfert et al.</a:t>
                      </a:r>
                    </a:p>
                  </a:txBody>
                  <a:tcPr anchor="ctr"/>
                </a:tc>
                <a:tc>
                  <a:txBody>
                    <a:bodyPr/>
                    <a:lstStyle/>
                    <a:p>
                      <a:r>
                        <a:t>Big Data in Smart Farming – A Review</a:t>
                      </a:r>
                    </a:p>
                  </a:txBody>
                  <a:tcPr anchor="ctr"/>
                </a:tc>
                <a:tc>
                  <a:txBody>
                    <a:bodyPr/>
                    <a:lstStyle/>
                    <a:p>
                      <a:r>
                        <a:t>Reviews data-driven agriculture, IoT and analytics.</a:t>
                      </a:r>
                    </a:p>
                  </a:txBody>
                  <a:tcPr anchor="ctr"/>
                </a:tc>
                <a:tc>
                  <a:txBody>
                    <a:bodyPr/>
                    <a:lstStyle/>
                    <a:p>
                      <a:r>
                        <a:t>Agricultural data can improve productivity and decision-making.</a:t>
                      </a:r>
                    </a:p>
                  </a:txBody>
                  <a:tcPr anchor="ctr"/>
                </a:tc>
                <a:tc>
                  <a:txBody>
                    <a:bodyPr/>
                    <a:lstStyle/>
                    <a:p>
                      <a:r>
                        <a:t>Integration is complex; FarmPulse AI uses independent services and real-time messaging.</a:t>
                      </a:r>
                    </a:p>
                  </a:txBody>
                  <a:tcPr anchor="ctr"/>
                </a:tc>
                <a:extLst>
                  <a:ext uri="{0D108BD9-81ED-4DB2-BD59-A6C34878D82A}">
                    <a16:rowId xmlns:a16="http://schemas.microsoft.com/office/drawing/2014/main" val="2655426370"/>
                  </a:ext>
                </a:extLst>
              </a:tr>
              <a:tr h="1354600">
                <a:tc>
                  <a:txBody>
                    <a:bodyPr/>
                    <a:lstStyle/>
                    <a:p>
                      <a:r>
                        <a:t>M. A. Khan et al.</a:t>
                      </a:r>
                    </a:p>
                  </a:txBody>
                  <a:tcPr anchor="ctr"/>
                </a:tc>
                <a:tc>
                  <a:txBody>
                    <a:bodyPr/>
                    <a:lstStyle/>
                    <a:p>
                      <a:r>
                        <a:t>Machine Learning for Precision Agriculture</a:t>
                      </a:r>
                    </a:p>
                  </a:txBody>
                  <a:tcPr anchor="ctr"/>
                </a:tc>
                <a:tc>
                  <a:txBody>
                    <a:bodyPr/>
                    <a:lstStyle/>
                    <a:p>
                      <a:r>
                        <a:t>Applies ML to agricultural prediction and decision support.</a:t>
                      </a:r>
                    </a:p>
                  </a:txBody>
                  <a:tcPr anchor="ctr"/>
                </a:tc>
                <a:tc>
                  <a:txBody>
                    <a:bodyPr/>
                    <a:lstStyle/>
                    <a:p>
                      <a:r>
                        <a:rPr dirty="0"/>
                        <a:t>ML can identify patterns in environmental and crop data.</a:t>
                      </a:r>
                    </a:p>
                  </a:txBody>
                  <a:tcPr anchor="ctr"/>
                </a:tc>
                <a:tc>
                  <a:txBody>
                    <a:bodyPr/>
                    <a:lstStyle/>
                    <a:p>
                      <a:r>
                        <a:rPr dirty="0"/>
                        <a:t>Many works focus only on models; </a:t>
                      </a:r>
                      <a:r>
                        <a:rPr dirty="0" err="1"/>
                        <a:t>FarmPulse</a:t>
                      </a:r>
                      <a:r>
                        <a:rPr dirty="0"/>
                        <a:t> AI integrates real-time ingestion, prediction, recommendations and dashboards.</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6</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816940" y="3610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6F652BE4-8BEF-487F-5AC3-CDE466E71714}"/>
              </a:ext>
            </a:extLst>
          </p:cNvPr>
          <p:cNvSpPr txBox="1"/>
          <p:nvPr/>
        </p:nvSpPr>
        <p:spPr>
          <a:xfrm>
            <a:off x="703006" y="799531"/>
            <a:ext cx="10785988" cy="4879028"/>
          </a:xfrm>
          <a:prstGeom prst="rect">
            <a:avLst/>
          </a:prstGeom>
          <a:noFill/>
        </p:spPr>
        <p:txBody>
          <a:bodyPr wrap="square">
            <a:spAutoFit/>
          </a:bodyPr>
          <a:lstStyle/>
          <a:p>
            <a:pPr lvl="0"/>
            <a:r>
              <a:rPr lang="en-IN" b="1" dirty="0"/>
              <a:t>Real-Time Crop Monitoring:</a:t>
            </a:r>
            <a:r>
              <a:rPr lang="en-IN" dirty="0"/>
              <a:t> To continuously monitor environmental conditions such as temperature, humidity, soil moisture, light intensity, and rainfall. </a:t>
            </a:r>
          </a:p>
          <a:p>
            <a:pPr lvl="0"/>
            <a:r>
              <a:rPr lang="en-IN" b="1" dirty="0"/>
              <a:t>SOA-Based Architecture:</a:t>
            </a:r>
            <a:r>
              <a:rPr lang="en-IN" dirty="0"/>
              <a:t> To develop the system using independent services for data collection, processing, prediction, recommendations, and monitoring. </a:t>
            </a:r>
          </a:p>
          <a:p>
            <a:pPr lvl="0"/>
            <a:r>
              <a:rPr lang="en-IN" b="1" dirty="0"/>
              <a:t>AI-Based Prediction:</a:t>
            </a:r>
            <a:r>
              <a:rPr lang="en-IN" dirty="0"/>
              <a:t> To </a:t>
            </a:r>
            <a:r>
              <a:rPr lang="en-IN" dirty="0" err="1"/>
              <a:t>analyze</a:t>
            </a:r>
            <a:r>
              <a:rPr lang="en-IN" dirty="0"/>
              <a:t> environmental data and predict crop health, water stress, and possible </a:t>
            </a:r>
            <a:r>
              <a:rPr lang="en-IN" dirty="0" err="1"/>
              <a:t>unfavorable</a:t>
            </a:r>
            <a:r>
              <a:rPr lang="en-IN" dirty="0"/>
              <a:t> conditions. </a:t>
            </a:r>
          </a:p>
          <a:p>
            <a:pPr lvl="0"/>
            <a:r>
              <a:rPr lang="en-IN" b="1" dirty="0"/>
              <a:t>Smart Recommendations:</a:t>
            </a:r>
            <a:r>
              <a:rPr lang="en-IN" dirty="0"/>
              <a:t> To provide timely recommendations and alerts, such as irrigation requirements based on crop conditions. </a:t>
            </a:r>
          </a:p>
          <a:p>
            <a:pPr lvl="0"/>
            <a:r>
              <a:rPr lang="en-IN" b="1" dirty="0"/>
              <a:t>Real-Time Data Communication:</a:t>
            </a:r>
            <a:r>
              <a:rPr lang="en-IN" dirty="0"/>
              <a:t> To use MQTT for efficient transmission of continuously generated sensor data. </a:t>
            </a:r>
          </a:p>
          <a:p>
            <a:pPr lvl="0"/>
            <a:r>
              <a:rPr lang="en-IN" b="1" dirty="0"/>
              <a:t>Data Storage and Analysis:</a:t>
            </a:r>
            <a:r>
              <a:rPr lang="en-IN" dirty="0"/>
              <a:t> To store environmental readings and prediction history for future analysis and monitoring. </a:t>
            </a:r>
          </a:p>
          <a:p>
            <a:pPr lvl="0"/>
            <a:r>
              <a:rPr lang="en-IN" b="1" dirty="0"/>
              <a:t>Interactive Visualization:</a:t>
            </a:r>
            <a:r>
              <a:rPr lang="en-IN" dirty="0"/>
              <a:t> To display real-time crop conditions, predictions, trends, and alerts through a dashboard. </a:t>
            </a:r>
          </a:p>
          <a:p>
            <a:pPr lvl="0"/>
            <a:r>
              <a:rPr lang="en-IN" b="1" dirty="0"/>
              <a:t>Sustainable Agriculture:</a:t>
            </a:r>
            <a:r>
              <a:rPr lang="en-IN" dirty="0"/>
              <a:t> To support efficient resource usage and better agricultural decision-making through data-driven insights. </a:t>
            </a:r>
          </a:p>
          <a:p>
            <a:pPr>
              <a:lnSpc>
                <a:spcPct val="150000"/>
              </a:lnSpc>
              <a:defRPr sz="1700"/>
            </a:pPr>
            <a:endParaRPr dirty="0"/>
          </a:p>
        </p:txBody>
      </p:sp>
    </p:spTree>
    <p:extLst>
      <p:ext uri="{BB962C8B-B14F-4D97-AF65-F5344CB8AC3E}">
        <p14:creationId xmlns:p14="http://schemas.microsoft.com/office/powerpoint/2010/main" val="3917782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F01C22-B0EB-4B90-1673-C2544D005BD2}"/>
              </a:ext>
            </a:extLst>
          </p:cNvPr>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a:extLst>
              <a:ext uri="{FF2B5EF4-FFF2-40B4-BE49-F238E27FC236}">
                <a16:creationId xmlns:a16="http://schemas.microsoft.com/office/drawing/2014/main" id="{267CC88E-9991-144A-28D4-126ADEE20B24}"/>
              </a:ext>
            </a:extLst>
          </p:cNvPr>
          <p:cNvSpPr>
            <a:spLocks noGrp="1"/>
          </p:cNvSpPr>
          <p:nvPr>
            <p:ph type="ftr" sz="quarter" idx="11"/>
          </p:nvPr>
        </p:nvSpPr>
        <p:spPr/>
        <p:txBody>
          <a:bodyPr/>
          <a:lstStyle/>
          <a:p>
            <a:r>
              <a:rPr lang="en-IN"/>
              <a:t>Ph.D. Viva Voce</a:t>
            </a:r>
          </a:p>
        </p:txBody>
      </p:sp>
      <p:sp>
        <p:nvSpPr>
          <p:cNvPr id="4" name="Slide Number Placeholder 3">
            <a:extLst>
              <a:ext uri="{FF2B5EF4-FFF2-40B4-BE49-F238E27FC236}">
                <a16:creationId xmlns:a16="http://schemas.microsoft.com/office/drawing/2014/main" id="{33FDEEF4-FCCC-D298-875D-8B916D6A148B}"/>
              </a:ext>
            </a:extLst>
          </p:cNvPr>
          <p:cNvSpPr>
            <a:spLocks noGrp="1"/>
          </p:cNvSpPr>
          <p:nvPr>
            <p:ph type="sldNum" sz="quarter" idx="12"/>
          </p:nvPr>
        </p:nvSpPr>
        <p:spPr/>
        <p:txBody>
          <a:bodyPr/>
          <a:lstStyle/>
          <a:p>
            <a:fld id="{01AD1135-6E10-4422-AC8B-257B84239C9C}" type="slidenum">
              <a:rPr lang="en-IN" smtClean="0"/>
              <a:t>8</a:t>
            </a:fld>
            <a:endParaRPr lang="en-IN"/>
          </a:p>
        </p:txBody>
      </p:sp>
      <p:sp>
        <p:nvSpPr>
          <p:cNvPr id="6" name="TextBox 5">
            <a:extLst>
              <a:ext uri="{FF2B5EF4-FFF2-40B4-BE49-F238E27FC236}">
                <a16:creationId xmlns:a16="http://schemas.microsoft.com/office/drawing/2014/main" id="{357522CC-BE1D-CBB3-A7EE-7AEF33A0361B}"/>
              </a:ext>
            </a:extLst>
          </p:cNvPr>
          <p:cNvSpPr txBox="1"/>
          <p:nvPr/>
        </p:nvSpPr>
        <p:spPr>
          <a:xfrm>
            <a:off x="4038600" y="369274"/>
            <a:ext cx="6096000" cy="646331"/>
          </a:xfrm>
          <a:prstGeom prst="rect">
            <a:avLst/>
          </a:prstGeom>
          <a:noFill/>
        </p:spPr>
        <p:txBody>
          <a:bodyPr wrap="square">
            <a:spAutoFit/>
          </a:bodyPr>
          <a:lstStyle/>
          <a:p>
            <a:r>
              <a:rPr lang="en-US" sz="3600" b="1" dirty="0"/>
              <a:t>Challenges </a:t>
            </a:r>
          </a:p>
        </p:txBody>
      </p:sp>
      <p:sp>
        <p:nvSpPr>
          <p:cNvPr id="8" name="TextBox 7">
            <a:extLst>
              <a:ext uri="{FF2B5EF4-FFF2-40B4-BE49-F238E27FC236}">
                <a16:creationId xmlns:a16="http://schemas.microsoft.com/office/drawing/2014/main" id="{F9B337AC-CDD2-BBF4-310D-FA0FABC7725B}"/>
              </a:ext>
            </a:extLst>
          </p:cNvPr>
          <p:cNvSpPr txBox="1"/>
          <p:nvPr/>
        </p:nvSpPr>
        <p:spPr>
          <a:xfrm>
            <a:off x="712838" y="1299513"/>
            <a:ext cx="10766323" cy="4876207"/>
          </a:xfrm>
          <a:prstGeom prst="rect">
            <a:avLst/>
          </a:prstGeom>
          <a:noFill/>
        </p:spPr>
        <p:txBody>
          <a:bodyPr wrap="square">
            <a:spAutoFit/>
          </a:bodyPr>
          <a:lstStyle/>
          <a:p>
            <a:pPr lvl="0"/>
            <a:r>
              <a:rPr lang="en-IN" b="1" dirty="0"/>
              <a:t>Continuous Monitoring:</a:t>
            </a:r>
            <a:r>
              <a:rPr lang="en-IN" dirty="0"/>
              <a:t> Crop conditions change frequently, making manual monitoring difficult and time-consuming. </a:t>
            </a:r>
          </a:p>
          <a:p>
            <a:pPr lvl="0"/>
            <a:r>
              <a:rPr lang="en-IN" b="1" dirty="0"/>
              <a:t>Multiple Environmental Factors:</a:t>
            </a:r>
            <a:r>
              <a:rPr lang="en-IN" dirty="0"/>
              <a:t> Temperature, humidity, soil moisture, light, and rainfall must be monitored together to understand their combined effect on crop health. </a:t>
            </a:r>
          </a:p>
          <a:p>
            <a:pPr lvl="0"/>
            <a:r>
              <a:rPr lang="en-IN" b="1" dirty="0"/>
              <a:t>Real-Time Data Processing:</a:t>
            </a:r>
            <a:r>
              <a:rPr lang="en-IN" dirty="0"/>
              <a:t> The system must efficiently receive and process continuously generated sensor data without significant delay. </a:t>
            </a:r>
          </a:p>
          <a:p>
            <a:pPr lvl="0"/>
            <a:r>
              <a:rPr lang="en-IN" b="1" dirty="0"/>
              <a:t>Early Stress Detection:</a:t>
            </a:r>
            <a:r>
              <a:rPr lang="en-IN" dirty="0"/>
              <a:t> Identifying conditions such as low soil moisture or high temperature at an early stage is essential to prevent crop stress. </a:t>
            </a:r>
          </a:p>
          <a:p>
            <a:pPr lvl="0"/>
            <a:r>
              <a:rPr lang="en-IN" b="1" dirty="0"/>
              <a:t>Accurate Prediction:</a:t>
            </a:r>
            <a:r>
              <a:rPr lang="en-IN" dirty="0"/>
              <a:t> Environmental data must be </a:t>
            </a:r>
            <a:r>
              <a:rPr lang="en-IN" dirty="0" err="1"/>
              <a:t>analyzed</a:t>
            </a:r>
            <a:r>
              <a:rPr lang="en-IN" dirty="0"/>
              <a:t> effectively to predict crop health, water stress, and irrigation requirements. </a:t>
            </a:r>
          </a:p>
          <a:p>
            <a:pPr lvl="0"/>
            <a:r>
              <a:rPr lang="en-IN" b="1" dirty="0"/>
              <a:t>Service Integration:</a:t>
            </a:r>
            <a:r>
              <a:rPr lang="en-IN" dirty="0"/>
              <a:t> Different SOA services need to communicate reliably while remaining independent and loosely coupled. </a:t>
            </a:r>
          </a:p>
          <a:p>
            <a:pPr lvl="0"/>
            <a:r>
              <a:rPr lang="en-IN" b="1" dirty="0"/>
              <a:t>Data Management:</a:t>
            </a:r>
            <a:r>
              <a:rPr lang="en-IN" dirty="0"/>
              <a:t> Large amounts of real-time and historical sensor data must be stored and managed efficiently. </a:t>
            </a:r>
          </a:p>
          <a:p>
            <a:pPr lvl="0"/>
            <a:r>
              <a:rPr lang="en-IN" b="1" dirty="0"/>
              <a:t>Scalability:</a:t>
            </a:r>
            <a:r>
              <a:rPr lang="en-IN" dirty="0"/>
              <a:t> The system should be designed so that new sensors, services, or AI models can be added in the future without redesigning the entire application.</a:t>
            </a:r>
          </a:p>
          <a:p>
            <a:pPr>
              <a:lnSpc>
                <a:spcPct val="150000"/>
              </a:lnSpc>
              <a:buNone/>
              <a:defRPr sz="1700"/>
            </a:pPr>
            <a:endParaRPr dirty="0"/>
          </a:p>
        </p:txBody>
      </p:sp>
    </p:spTree>
    <p:extLst>
      <p:ext uri="{BB962C8B-B14F-4D97-AF65-F5344CB8AC3E}">
        <p14:creationId xmlns:p14="http://schemas.microsoft.com/office/powerpoint/2010/main" val="1852516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352800" y="71183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2D564FF-C061-7B3C-9643-D9A201B767F0}"/>
              </a:ext>
            </a:extLst>
          </p:cNvPr>
          <p:cNvSpPr txBox="1"/>
          <p:nvPr/>
        </p:nvSpPr>
        <p:spPr>
          <a:xfrm>
            <a:off x="698090" y="1843474"/>
            <a:ext cx="11405419" cy="2940036"/>
          </a:xfrm>
          <a:prstGeom prst="rect">
            <a:avLst/>
          </a:prstGeom>
          <a:noFill/>
        </p:spPr>
        <p:txBody>
          <a:bodyPr wrap="square">
            <a:spAutoFit/>
          </a:bodyPr>
          <a:lstStyle/>
          <a:p>
            <a:r>
              <a:rPr lang="en-IN" dirty="0"/>
              <a:t>Existing crop monitoring systems mainly focus on collecting and displaying sensor data, but they may not provide a complete solution that combines </a:t>
            </a:r>
            <a:r>
              <a:rPr lang="en-IN" b="1" dirty="0"/>
              <a:t>real-time monitoring, intelligent prediction, and actionable recommendations</a:t>
            </a:r>
            <a:r>
              <a:rPr lang="en-IN" dirty="0"/>
              <a:t> in one system. Many traditional approaches also rely on manual observation, making it difficult to detect crop stress and </a:t>
            </a:r>
            <a:r>
              <a:rPr lang="en-IN" dirty="0" err="1"/>
              <a:t>unfavorable</a:t>
            </a:r>
            <a:r>
              <a:rPr lang="en-IN" dirty="0"/>
              <a:t> environmental conditions at an early stage.</a:t>
            </a:r>
          </a:p>
          <a:p>
            <a:r>
              <a:rPr lang="en-IN" dirty="0"/>
              <a:t>There is a need for a </a:t>
            </a:r>
            <a:r>
              <a:rPr lang="en-IN" b="1" dirty="0"/>
              <a:t>modular and integrated system</a:t>
            </a:r>
            <a:r>
              <a:rPr lang="en-IN" dirty="0"/>
              <a:t> that can continuously process environmental data and convert it into useful insights. </a:t>
            </a:r>
            <a:r>
              <a:rPr lang="en-IN" b="1" dirty="0" err="1"/>
              <a:t>FarmPulse</a:t>
            </a:r>
            <a:r>
              <a:rPr lang="en-IN" b="1" dirty="0"/>
              <a:t> AI</a:t>
            </a:r>
            <a:r>
              <a:rPr lang="en-IN" dirty="0"/>
              <a:t> addresses this gap by combining </a:t>
            </a:r>
            <a:r>
              <a:rPr lang="en-IN" b="1" dirty="0"/>
              <a:t>SOA-based independent services, MQTT-based real-time communication, AI/ML prediction, data storage, and dashboard visualization</a:t>
            </a:r>
            <a:r>
              <a:rPr lang="en-IN" dirty="0"/>
              <a:t>. The system not only monitors crop conditions but also predicts crop health and stress levels and provides recommendations such as irrigation alerts.</a:t>
            </a:r>
          </a:p>
          <a:p>
            <a:pPr algn="just">
              <a:lnSpc>
                <a:spcPct val="150000"/>
              </a:lnSpc>
              <a:defRPr sz="1700"/>
            </a:pPr>
            <a:endParaRPr dirty="0"/>
          </a:p>
        </p:txBody>
      </p:sp>
    </p:spTree>
    <p:extLst>
      <p:ext uri="{BB962C8B-B14F-4D97-AF65-F5344CB8AC3E}">
        <p14:creationId xmlns:p14="http://schemas.microsoft.com/office/powerpoint/2010/main" val="2065876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32615"/>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90007D85-97FC-67CD-3558-ED4C7FC3AA57}"/>
              </a:ext>
            </a:extLst>
          </p:cNvPr>
          <p:cNvSpPr txBox="1"/>
          <p:nvPr/>
        </p:nvSpPr>
        <p:spPr>
          <a:xfrm>
            <a:off x="799691" y="1546942"/>
            <a:ext cx="11592232" cy="4325030"/>
          </a:xfrm>
          <a:prstGeom prst="rect">
            <a:avLst/>
          </a:prstGeom>
          <a:noFill/>
        </p:spPr>
        <p:txBody>
          <a:bodyPr wrap="square">
            <a:spAutoFit/>
          </a:bodyPr>
          <a:lstStyle/>
          <a:p>
            <a:pPr marL="285750" indent="-285750">
              <a:buFont typeface="Wingdings" panose="05000000000000000000" pitchFamily="2" charset="2"/>
              <a:buChar char="§"/>
            </a:pPr>
            <a:r>
              <a:rPr lang="en-IN" b="1" dirty="0" err="1"/>
              <a:t>FarmPulse</a:t>
            </a:r>
            <a:r>
              <a:rPr lang="en-IN" b="1" dirty="0"/>
              <a:t> AI</a:t>
            </a:r>
            <a:r>
              <a:rPr lang="en-IN" dirty="0"/>
              <a:t> introduces an innovative approach by combining </a:t>
            </a:r>
            <a:r>
              <a:rPr lang="en-IN" b="1" dirty="0"/>
              <a:t>Service-Oriented Architecture (SOA), real-time data monitoring, AI-based prediction, and smart agriculture</a:t>
            </a:r>
            <a:r>
              <a:rPr lang="en-IN" dirty="0"/>
              <a:t> in a single integrated system.</a:t>
            </a:r>
          </a:p>
          <a:p>
            <a:pPr marL="285750" lvl="0" indent="-285750">
              <a:buFont typeface="Wingdings" panose="05000000000000000000" pitchFamily="2" charset="2"/>
              <a:buChar char="§"/>
            </a:pPr>
            <a:r>
              <a:rPr lang="en-IN" b="1" dirty="0"/>
              <a:t>SOA-Based Modular Design:</a:t>
            </a:r>
            <a:r>
              <a:rPr lang="en-IN" dirty="0"/>
              <a:t> The system is divided into independent services for sensor data collection, processing, prediction, recommendations, and monitoring, making it flexible and scalable. </a:t>
            </a:r>
          </a:p>
          <a:p>
            <a:pPr marL="285750" lvl="0" indent="-285750">
              <a:buFont typeface="Wingdings" panose="05000000000000000000" pitchFamily="2" charset="2"/>
              <a:buChar char="§"/>
            </a:pPr>
            <a:r>
              <a:rPr lang="en-IN" b="1" dirty="0"/>
              <a:t>Real-Time Crop Intelligence:</a:t>
            </a:r>
            <a:r>
              <a:rPr lang="en-IN" dirty="0"/>
              <a:t> Instead of only displaying sensor values, the system continuously </a:t>
            </a:r>
            <a:r>
              <a:rPr lang="en-IN" dirty="0" err="1"/>
              <a:t>analyzes</a:t>
            </a:r>
            <a:r>
              <a:rPr lang="en-IN" dirty="0"/>
              <a:t> environmental conditions to understand crop health and stress. </a:t>
            </a:r>
          </a:p>
          <a:p>
            <a:pPr marL="285750" lvl="0" indent="-285750">
              <a:buFont typeface="Wingdings" panose="05000000000000000000" pitchFamily="2" charset="2"/>
              <a:buChar char="§"/>
            </a:pPr>
            <a:r>
              <a:rPr lang="en-IN" b="1" dirty="0"/>
              <a:t>AI-Based Predictive Monitoring:</a:t>
            </a:r>
            <a:r>
              <a:rPr lang="en-IN" dirty="0"/>
              <a:t> AI/ML is used to predict crop health, water stress, and irrigation requirements based on multiple environmental parameters. </a:t>
            </a:r>
          </a:p>
          <a:p>
            <a:pPr marL="285750" lvl="0" indent="-285750">
              <a:buFont typeface="Wingdings" panose="05000000000000000000" pitchFamily="2" charset="2"/>
              <a:buChar char="§"/>
            </a:pPr>
            <a:r>
              <a:rPr lang="en-IN" b="1" dirty="0"/>
              <a:t>Smart Recommendation System:</a:t>
            </a:r>
            <a:r>
              <a:rPr lang="en-IN" dirty="0"/>
              <a:t> The system converts predictions into useful actions, such as sending irrigation alerts when soil moisture becomes critically low. </a:t>
            </a:r>
          </a:p>
          <a:p>
            <a:pPr marL="285750" lvl="0" indent="-285750">
              <a:buFont typeface="Wingdings" panose="05000000000000000000" pitchFamily="2" charset="2"/>
              <a:buChar char="§"/>
            </a:pPr>
            <a:r>
              <a:rPr lang="en-IN" b="1" dirty="0"/>
              <a:t>Software-Based IoT Simulation:</a:t>
            </a:r>
            <a:r>
              <a:rPr lang="en-IN" dirty="0"/>
              <a:t> The project can simulate real-time sensor data without requiring expensive physical agricultural hardware, making it practical and cost-effective. </a:t>
            </a:r>
          </a:p>
          <a:p>
            <a:pPr marL="285750" lvl="0" indent="-285750">
              <a:buFont typeface="Wingdings" panose="05000000000000000000" pitchFamily="2" charset="2"/>
              <a:buChar char="§"/>
            </a:pPr>
            <a:r>
              <a:rPr lang="en-IN" b="1" dirty="0"/>
              <a:t>End-to-End Integration:</a:t>
            </a:r>
            <a:r>
              <a:rPr lang="en-IN" dirty="0"/>
              <a:t> The novelty lies in combining </a:t>
            </a:r>
            <a:r>
              <a:rPr lang="en-IN" b="1" dirty="0"/>
              <a:t>MQTT communication → SOA services → AI prediction → smart recommendations → real-time dashboard</a:t>
            </a:r>
            <a:r>
              <a:rPr lang="en-IN" dirty="0"/>
              <a:t> into one complete crop-monitoring platform.</a:t>
            </a:r>
          </a:p>
          <a:p>
            <a:pPr algn="just">
              <a:lnSpc>
                <a:spcPct val="150000"/>
              </a:lnSpc>
              <a:buNone/>
              <a:defRPr sz="1700"/>
            </a:pPr>
            <a:endParaRPr dirty="0"/>
          </a:p>
        </p:txBody>
      </p:sp>
    </p:spTree>
    <p:extLst>
      <p:ext uri="{BB962C8B-B14F-4D97-AF65-F5344CB8AC3E}">
        <p14:creationId xmlns:p14="http://schemas.microsoft.com/office/powerpoint/2010/main" val="3524135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49909" y="0"/>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8A478936-B5E5-6DF4-BD3C-DDD75DCAA928}"/>
              </a:ext>
            </a:extLst>
          </p:cNvPr>
          <p:cNvGraphicFramePr>
            <a:graphicFrameLocks noGrp="1"/>
          </p:cNvGraphicFramePr>
          <p:nvPr>
            <p:extLst>
              <p:ext uri="{D42A27DB-BD31-4B8C-83A1-F6EECF244321}">
                <p14:modId xmlns:p14="http://schemas.microsoft.com/office/powerpoint/2010/main" val="239576685"/>
              </p:ext>
            </p:extLst>
          </p:nvPr>
        </p:nvGraphicFramePr>
        <p:xfrm>
          <a:off x="627998" y="802460"/>
          <a:ext cx="11229705" cy="5763677"/>
        </p:xfrm>
        <a:graphic>
          <a:graphicData uri="http://schemas.openxmlformats.org/drawingml/2006/table">
            <a:tbl>
              <a:tblPr/>
              <a:tblGrid>
                <a:gridCol w="1247745">
                  <a:extLst>
                    <a:ext uri="{9D8B030D-6E8A-4147-A177-3AD203B41FA5}">
                      <a16:colId xmlns:a16="http://schemas.microsoft.com/office/drawing/2014/main" val="1077906474"/>
                    </a:ext>
                  </a:extLst>
                </a:gridCol>
                <a:gridCol w="1247745">
                  <a:extLst>
                    <a:ext uri="{9D8B030D-6E8A-4147-A177-3AD203B41FA5}">
                      <a16:colId xmlns:a16="http://schemas.microsoft.com/office/drawing/2014/main" val="1200585070"/>
                    </a:ext>
                  </a:extLst>
                </a:gridCol>
                <a:gridCol w="1247745">
                  <a:extLst>
                    <a:ext uri="{9D8B030D-6E8A-4147-A177-3AD203B41FA5}">
                      <a16:colId xmlns:a16="http://schemas.microsoft.com/office/drawing/2014/main" val="2123803139"/>
                    </a:ext>
                  </a:extLst>
                </a:gridCol>
                <a:gridCol w="1247745">
                  <a:extLst>
                    <a:ext uri="{9D8B030D-6E8A-4147-A177-3AD203B41FA5}">
                      <a16:colId xmlns:a16="http://schemas.microsoft.com/office/drawing/2014/main" val="3001608806"/>
                    </a:ext>
                  </a:extLst>
                </a:gridCol>
                <a:gridCol w="1247745">
                  <a:extLst>
                    <a:ext uri="{9D8B030D-6E8A-4147-A177-3AD203B41FA5}">
                      <a16:colId xmlns:a16="http://schemas.microsoft.com/office/drawing/2014/main" val="2259974403"/>
                    </a:ext>
                  </a:extLst>
                </a:gridCol>
                <a:gridCol w="1247745">
                  <a:extLst>
                    <a:ext uri="{9D8B030D-6E8A-4147-A177-3AD203B41FA5}">
                      <a16:colId xmlns:a16="http://schemas.microsoft.com/office/drawing/2014/main" val="3033054786"/>
                    </a:ext>
                  </a:extLst>
                </a:gridCol>
                <a:gridCol w="1247745">
                  <a:extLst>
                    <a:ext uri="{9D8B030D-6E8A-4147-A177-3AD203B41FA5}">
                      <a16:colId xmlns:a16="http://schemas.microsoft.com/office/drawing/2014/main" val="111129975"/>
                    </a:ext>
                  </a:extLst>
                </a:gridCol>
                <a:gridCol w="1247745">
                  <a:extLst>
                    <a:ext uri="{9D8B030D-6E8A-4147-A177-3AD203B41FA5}">
                      <a16:colId xmlns:a16="http://schemas.microsoft.com/office/drawing/2014/main" val="3195710394"/>
                    </a:ext>
                  </a:extLst>
                </a:gridCol>
                <a:gridCol w="1247745">
                  <a:extLst>
                    <a:ext uri="{9D8B030D-6E8A-4147-A177-3AD203B41FA5}">
                      <a16:colId xmlns:a16="http://schemas.microsoft.com/office/drawing/2014/main" val="3036222458"/>
                    </a:ext>
                  </a:extLst>
                </a:gridCol>
              </a:tblGrid>
              <a:tr h="355936">
                <a:tc>
                  <a:txBody>
                    <a:bodyPr/>
                    <a:lstStyle/>
                    <a:p>
                      <a:pPr>
                        <a:buNone/>
                      </a:pPr>
                      <a:r>
                        <a:rPr lang="en-IN" sz="1100" dirty="0"/>
                        <a:t>Phase</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1–2</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3–4</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5–6</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7–8</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9–10</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11–12</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13–14</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Week 15–16</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037478"/>
                  </a:ext>
                </a:extLst>
              </a:tr>
              <a:tr h="508480">
                <a:tc>
                  <a:txBody>
                    <a:bodyPr/>
                    <a:lstStyle/>
                    <a:p>
                      <a:pPr>
                        <a:buNone/>
                      </a:pPr>
                      <a:r>
                        <a:rPr lang="en-IN" sz="1100" dirty="0"/>
                        <a:t>Requirement Analysis</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dirty="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4483694"/>
                  </a:ext>
                </a:extLst>
              </a:tr>
              <a:tr h="355936">
                <a:tc>
                  <a:txBody>
                    <a:bodyPr/>
                    <a:lstStyle/>
                    <a:p>
                      <a:pPr>
                        <a:buNone/>
                      </a:pPr>
                      <a:r>
                        <a:rPr lang="en-IN" sz="1100" dirty="0"/>
                        <a:t>System &amp; SOA Design</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7265592"/>
                  </a:ext>
                </a:extLst>
              </a:tr>
              <a:tr h="508480">
                <a:tc>
                  <a:txBody>
                    <a:bodyPr/>
                    <a:lstStyle/>
                    <a:p>
                      <a:pPr>
                        <a:buNone/>
                      </a:pPr>
                      <a:r>
                        <a:rPr lang="en-IN" sz="1100" dirty="0"/>
                        <a:t>Sensor Simulator &amp; MQTT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8849951"/>
                  </a:ext>
                </a:extLst>
              </a:tr>
              <a:tr h="508480">
                <a:tc>
                  <a:txBody>
                    <a:bodyPr/>
                    <a:lstStyle/>
                    <a:p>
                      <a:pPr>
                        <a:buNone/>
                      </a:pPr>
                      <a:r>
                        <a:rPr lang="en-IN" sz="1100" dirty="0"/>
                        <a:t>Backend Service Development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dirty="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52367"/>
                  </a:ext>
                </a:extLst>
              </a:tr>
              <a:tr h="508480">
                <a:tc>
                  <a:txBody>
                    <a:bodyPr/>
                    <a:lstStyle/>
                    <a:p>
                      <a:pPr>
                        <a:buNone/>
                      </a:pPr>
                      <a:r>
                        <a:rPr lang="en-IN" sz="1100" dirty="0"/>
                        <a:t>AI/ML Prediction Service</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5818433"/>
                  </a:ext>
                </a:extLst>
              </a:tr>
              <a:tr h="508480">
                <a:tc>
                  <a:txBody>
                    <a:bodyPr/>
                    <a:lstStyle/>
                    <a:p>
                      <a:pPr>
                        <a:buNone/>
                      </a:pPr>
                      <a:r>
                        <a:rPr lang="en-IN" sz="1100" dirty="0"/>
                        <a:t>Recommendation Service</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dirty="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163300"/>
                  </a:ext>
                </a:extLst>
              </a:tr>
              <a:tr h="508480">
                <a:tc>
                  <a:txBody>
                    <a:bodyPr/>
                    <a:lstStyle/>
                    <a:p>
                      <a:pPr>
                        <a:buNone/>
                      </a:pPr>
                      <a:r>
                        <a:rPr lang="en-IN" sz="1100" dirty="0"/>
                        <a:t>Database &amp; Data Integration</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519564"/>
                  </a:ext>
                </a:extLst>
              </a:tr>
              <a:tr h="508480">
                <a:tc>
                  <a:txBody>
                    <a:bodyPr/>
                    <a:lstStyle/>
                    <a:p>
                      <a:pPr>
                        <a:buNone/>
                      </a:pPr>
                      <a:r>
                        <a:rPr lang="en-IN" sz="1100" dirty="0"/>
                        <a:t>Dashboard Development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dirty="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2158448"/>
                  </a:ext>
                </a:extLst>
              </a:tr>
              <a:tr h="661024">
                <a:tc>
                  <a:txBody>
                    <a:bodyPr/>
                    <a:lstStyle/>
                    <a:p>
                      <a:pPr>
                        <a:buNone/>
                      </a:pPr>
                      <a:r>
                        <a:rPr lang="en-IN" sz="1100" dirty="0"/>
                        <a:t>Testing &amp; Integration</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dirty="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996395"/>
                  </a:ext>
                </a:extLst>
              </a:tr>
              <a:tr h="813569">
                <a:tc>
                  <a:txBody>
                    <a:bodyPr/>
                    <a:lstStyle/>
                    <a:p>
                      <a:pPr>
                        <a:buNone/>
                      </a:pPr>
                      <a:r>
                        <a:rPr lang="en-IN" sz="1100" dirty="0"/>
                        <a:t>Documentation &amp; Final Evaluation</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IN" sz="800"/>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800" dirty="0"/>
                        <a:t>███</a:t>
                      </a:r>
                    </a:p>
                  </a:txBody>
                  <a:tcPr marL="38507" marR="38507" marT="19254" marB="192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710137"/>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FCEB68-E932-C4F7-9D8A-6EFAE16747C1}"/>
              </a:ext>
            </a:extLst>
          </p:cNvPr>
          <p:cNvSpPr txBox="1"/>
          <p:nvPr/>
        </p:nvSpPr>
        <p:spPr>
          <a:xfrm>
            <a:off x="2734841" y="319163"/>
            <a:ext cx="6096000" cy="646331"/>
          </a:xfrm>
          <a:prstGeom prst="rect">
            <a:avLst/>
          </a:prstGeom>
          <a:noFill/>
        </p:spPr>
        <p:txBody>
          <a:bodyPr wrap="square">
            <a:spAutoFit/>
          </a:bodyPr>
          <a:lstStyle/>
          <a:p>
            <a:pPr algn="ctr"/>
            <a:r>
              <a:rPr lang="en-US" sz="3600" b="1" dirty="0"/>
              <a:t>Conclusion &amp; Future Work </a:t>
            </a:r>
          </a:p>
        </p:txBody>
      </p:sp>
      <p:sp>
        <p:nvSpPr>
          <p:cNvPr id="7" name="TextBox 6">
            <a:extLst>
              <a:ext uri="{FF2B5EF4-FFF2-40B4-BE49-F238E27FC236}">
                <a16:creationId xmlns:a16="http://schemas.microsoft.com/office/drawing/2014/main" id="{EFA1A0E0-75DD-BC4F-04E1-2B75EFE93D00}"/>
              </a:ext>
            </a:extLst>
          </p:cNvPr>
          <p:cNvSpPr txBox="1"/>
          <p:nvPr/>
        </p:nvSpPr>
        <p:spPr>
          <a:xfrm>
            <a:off x="363136" y="1231477"/>
            <a:ext cx="12078929" cy="4801314"/>
          </a:xfrm>
          <a:prstGeom prst="rect">
            <a:avLst/>
          </a:prstGeom>
          <a:noFill/>
        </p:spPr>
        <p:txBody>
          <a:bodyPr wrap="square">
            <a:spAutoFit/>
          </a:bodyPr>
          <a:lstStyle/>
          <a:p>
            <a:r>
              <a:rPr lang="en-IN" b="1" dirty="0"/>
              <a:t>Conclusion:</a:t>
            </a:r>
          </a:p>
          <a:p>
            <a:r>
              <a:rPr lang="en-IN" dirty="0"/>
              <a:t>                            </a:t>
            </a:r>
            <a:r>
              <a:rPr lang="en-IN" dirty="0" err="1"/>
              <a:t>FarmPulse</a:t>
            </a:r>
            <a:r>
              <a:rPr lang="en-IN" dirty="0"/>
              <a:t> AI is an </a:t>
            </a:r>
            <a:r>
              <a:rPr lang="en-IN" b="1" dirty="0"/>
              <a:t>SOA-driven real-time crop monitoring and predictive agriculture system</a:t>
            </a:r>
            <a:r>
              <a:rPr lang="en-IN" dirty="0"/>
              <a:t> designed to transform environmental data into useful farming insights. The system monitors parameters such as </a:t>
            </a:r>
            <a:r>
              <a:rPr lang="en-IN" b="1" dirty="0"/>
              <a:t>temperature, humidity, soil moisture, light intensity, and rainfall</a:t>
            </a:r>
            <a:r>
              <a:rPr lang="en-IN" dirty="0"/>
              <a:t> and processes them through independent services.</a:t>
            </a:r>
          </a:p>
          <a:p>
            <a:r>
              <a:rPr lang="en-IN" dirty="0"/>
              <a:t>By combining </a:t>
            </a:r>
            <a:r>
              <a:rPr lang="en-IN" b="1" dirty="0"/>
              <a:t>MQTT-based real-time communication, SOA, AI/ML prediction, PostgreSQL, Grafana, and Docker</a:t>
            </a:r>
            <a:r>
              <a:rPr lang="en-IN" dirty="0"/>
              <a:t>, the system can predict </a:t>
            </a:r>
            <a:r>
              <a:rPr lang="en-IN" b="1" dirty="0"/>
              <a:t>crop health, environmental stress, and irrigation requirements</a:t>
            </a:r>
            <a:r>
              <a:rPr lang="en-IN" dirty="0"/>
              <a:t>. Its modular architecture makes the system easier to maintain, scale, and extend. </a:t>
            </a:r>
            <a:r>
              <a:rPr lang="en-IN" dirty="0" err="1"/>
              <a:t>FarmPulse</a:t>
            </a:r>
            <a:r>
              <a:rPr lang="en-IN" dirty="0"/>
              <a:t> AI aims to support </a:t>
            </a:r>
            <a:r>
              <a:rPr lang="en-IN" b="1" dirty="0"/>
              <a:t>smarter agricultural decision-making, efficient resource usage, and sustainable farming</a:t>
            </a:r>
            <a:r>
              <a:rPr lang="en-IN" dirty="0"/>
              <a:t>.</a:t>
            </a:r>
          </a:p>
          <a:p>
            <a:r>
              <a:rPr lang="en-IN" b="1" dirty="0"/>
              <a:t>Future Work:</a:t>
            </a:r>
          </a:p>
          <a:p>
            <a:pPr marL="285750" lvl="0" indent="-285750">
              <a:buFont typeface="Wingdings" panose="05000000000000000000" pitchFamily="2" charset="2"/>
              <a:buChar char="§"/>
            </a:pPr>
            <a:r>
              <a:rPr lang="en-IN" dirty="0"/>
              <a:t>Integrate </a:t>
            </a:r>
            <a:r>
              <a:rPr lang="en-IN" b="1" dirty="0"/>
              <a:t>real IoT sensors</a:t>
            </a:r>
            <a:r>
              <a:rPr lang="en-IN" dirty="0"/>
              <a:t> instead of simulated data. </a:t>
            </a:r>
          </a:p>
          <a:p>
            <a:pPr marL="285750" lvl="0" indent="-285750">
              <a:buFont typeface="Wingdings" panose="05000000000000000000" pitchFamily="2" charset="2"/>
              <a:buChar char="§"/>
            </a:pPr>
            <a:r>
              <a:rPr lang="en-IN" dirty="0"/>
              <a:t>Add </a:t>
            </a:r>
            <a:r>
              <a:rPr lang="en-IN" b="1" dirty="0" err="1"/>
              <a:t>LoRaWAN</a:t>
            </a:r>
            <a:r>
              <a:rPr lang="en-IN" dirty="0"/>
              <a:t> for long-range farm communication. </a:t>
            </a:r>
          </a:p>
          <a:p>
            <a:pPr marL="285750" lvl="0" indent="-285750">
              <a:buFont typeface="Wingdings" panose="05000000000000000000" pitchFamily="2" charset="2"/>
              <a:buChar char="§"/>
            </a:pPr>
            <a:r>
              <a:rPr lang="en-IN" dirty="0"/>
              <a:t>Integrate </a:t>
            </a:r>
            <a:r>
              <a:rPr lang="en-IN" b="1" dirty="0"/>
              <a:t>Azure Digital Twins</a:t>
            </a:r>
            <a:r>
              <a:rPr lang="en-IN" dirty="0"/>
              <a:t> for a virtual representation of the farm. </a:t>
            </a:r>
          </a:p>
          <a:p>
            <a:pPr marL="285750" lvl="0" indent="-285750">
              <a:buFont typeface="Wingdings" panose="05000000000000000000" pitchFamily="2" charset="2"/>
              <a:buChar char="§"/>
            </a:pPr>
            <a:r>
              <a:rPr lang="en-IN" dirty="0"/>
              <a:t>Use advanced </a:t>
            </a:r>
            <a:r>
              <a:rPr lang="en-IN" b="1" dirty="0"/>
              <a:t>deep-learning models</a:t>
            </a:r>
            <a:r>
              <a:rPr lang="en-IN" dirty="0"/>
              <a:t> for more accurate predictions. </a:t>
            </a:r>
          </a:p>
          <a:p>
            <a:pPr marL="285750" lvl="0" indent="-285750">
              <a:buFont typeface="Wingdings" panose="05000000000000000000" pitchFamily="2" charset="2"/>
              <a:buChar char="§"/>
            </a:pPr>
            <a:r>
              <a:rPr lang="en-IN" dirty="0"/>
              <a:t>Add </a:t>
            </a:r>
            <a:r>
              <a:rPr lang="en-IN" b="1" dirty="0"/>
              <a:t>weather API integration</a:t>
            </a:r>
            <a:r>
              <a:rPr lang="en-IN" dirty="0"/>
              <a:t> for weather-based crop predictions. </a:t>
            </a:r>
          </a:p>
          <a:p>
            <a:pPr marL="285750" lvl="0" indent="-285750">
              <a:buFont typeface="Wingdings" panose="05000000000000000000" pitchFamily="2" charset="2"/>
              <a:buChar char="§"/>
            </a:pPr>
            <a:r>
              <a:rPr lang="en-IN" dirty="0"/>
              <a:t>Include </a:t>
            </a:r>
            <a:r>
              <a:rPr lang="en-IN" b="1" dirty="0"/>
              <a:t>AI-based plant disease detection</a:t>
            </a:r>
            <a:r>
              <a:rPr lang="en-IN" dirty="0"/>
              <a:t> using crop images. </a:t>
            </a:r>
          </a:p>
          <a:p>
            <a:pPr marL="285750" lvl="0" indent="-285750">
              <a:buFont typeface="Wingdings" panose="05000000000000000000" pitchFamily="2" charset="2"/>
              <a:buChar char="§"/>
            </a:pPr>
            <a:r>
              <a:rPr lang="en-IN" dirty="0"/>
              <a:t>Connect the system with </a:t>
            </a:r>
            <a:r>
              <a:rPr lang="en-IN" b="1" dirty="0"/>
              <a:t>automated smart irrigation systems</a:t>
            </a:r>
            <a:r>
              <a:rPr lang="en-IN" dirty="0"/>
              <a:t>. </a:t>
            </a:r>
          </a:p>
          <a:p>
            <a:pPr marL="285750" lvl="0" indent="-285750">
              <a:buFont typeface="Wingdings" panose="05000000000000000000" pitchFamily="2" charset="2"/>
              <a:buChar char="§"/>
            </a:pPr>
            <a:r>
              <a:rPr lang="en-IN" dirty="0"/>
              <a:t>Expand support for </a:t>
            </a:r>
            <a:r>
              <a:rPr lang="en-IN" b="1" dirty="0"/>
              <a:t>multiple crops and large-scale farm</a:t>
            </a:r>
            <a:endParaRPr lang="en-IN" dirty="0"/>
          </a:p>
        </p:txBody>
      </p:sp>
    </p:spTree>
    <p:extLst>
      <p:ext uri="{BB962C8B-B14F-4D97-AF65-F5344CB8AC3E}">
        <p14:creationId xmlns:p14="http://schemas.microsoft.com/office/powerpoint/2010/main" val="2724529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E77906-66E5-200F-01FF-82F78D84F83F}"/>
              </a:ext>
            </a:extLst>
          </p:cNvPr>
          <p:cNvSpPr txBox="1"/>
          <p:nvPr/>
        </p:nvSpPr>
        <p:spPr>
          <a:xfrm>
            <a:off x="2639959" y="338311"/>
            <a:ext cx="6096000" cy="646331"/>
          </a:xfrm>
          <a:prstGeom prst="rect">
            <a:avLst/>
          </a:prstGeom>
          <a:noFill/>
        </p:spPr>
        <p:txBody>
          <a:bodyPr wrap="square">
            <a:spAutoFit/>
          </a:bodyPr>
          <a:lstStyle/>
          <a:p>
            <a:pPr algn="ctr"/>
            <a:r>
              <a:rPr lang="en-US" sz="3600" b="1" dirty="0"/>
              <a:t>References</a:t>
            </a:r>
          </a:p>
        </p:txBody>
      </p:sp>
      <p:sp>
        <p:nvSpPr>
          <p:cNvPr id="7" name="TextBox 6">
            <a:extLst>
              <a:ext uri="{FF2B5EF4-FFF2-40B4-BE49-F238E27FC236}">
                <a16:creationId xmlns:a16="http://schemas.microsoft.com/office/drawing/2014/main" id="{B255C79A-E4D3-1F99-8AAD-81CB2CC3C7D2}"/>
              </a:ext>
            </a:extLst>
          </p:cNvPr>
          <p:cNvSpPr txBox="1"/>
          <p:nvPr/>
        </p:nvSpPr>
        <p:spPr>
          <a:xfrm>
            <a:off x="688258" y="1378507"/>
            <a:ext cx="11503742" cy="3494033"/>
          </a:xfrm>
          <a:prstGeom prst="rect">
            <a:avLst/>
          </a:prstGeom>
          <a:noFill/>
        </p:spPr>
        <p:txBody>
          <a:bodyPr wrap="square">
            <a:spAutoFit/>
          </a:bodyPr>
          <a:lstStyle/>
          <a:p>
            <a:pPr marL="285750" lvl="0" indent="-285750">
              <a:buFont typeface="Wingdings" panose="05000000000000000000" pitchFamily="2" charset="2"/>
              <a:buChar char="§"/>
            </a:pPr>
            <a:r>
              <a:rPr lang="en-IN" b="1" dirty="0"/>
              <a:t>MQTT.org</a:t>
            </a:r>
            <a:r>
              <a:rPr lang="en-IN" dirty="0"/>
              <a:t>, </a:t>
            </a:r>
            <a:r>
              <a:rPr lang="en-IN" i="1" dirty="0"/>
              <a:t>MQTT: The Standard for IoT Messaging and Communication</a:t>
            </a:r>
            <a:r>
              <a:rPr lang="en-IN" dirty="0"/>
              <a:t>. </a:t>
            </a:r>
          </a:p>
          <a:p>
            <a:pPr marL="285750" lvl="0" indent="-285750">
              <a:buFont typeface="Wingdings" panose="05000000000000000000" pitchFamily="2" charset="2"/>
              <a:buChar char="§"/>
            </a:pPr>
            <a:r>
              <a:rPr lang="en-IN" b="1" dirty="0" err="1"/>
              <a:t>FastAPI</a:t>
            </a:r>
            <a:r>
              <a:rPr lang="en-IN" b="1" dirty="0"/>
              <a:t> Documentation</a:t>
            </a:r>
            <a:r>
              <a:rPr lang="en-IN" dirty="0"/>
              <a:t>, </a:t>
            </a:r>
            <a:r>
              <a:rPr lang="en-IN" i="1" dirty="0" err="1"/>
              <a:t>FastAPI</a:t>
            </a:r>
            <a:r>
              <a:rPr lang="en-IN" i="1" dirty="0"/>
              <a:t> – Modern Web Framework for Building APIs</a:t>
            </a:r>
            <a:r>
              <a:rPr lang="en-IN" dirty="0"/>
              <a:t>. </a:t>
            </a:r>
          </a:p>
          <a:p>
            <a:pPr marL="285750" lvl="0" indent="-285750">
              <a:buFont typeface="Wingdings" panose="05000000000000000000" pitchFamily="2" charset="2"/>
              <a:buChar char="§"/>
            </a:pPr>
            <a:r>
              <a:rPr lang="en-IN" b="1" dirty="0"/>
              <a:t>TensorFlow Documentation</a:t>
            </a:r>
            <a:r>
              <a:rPr lang="en-IN" dirty="0"/>
              <a:t>, </a:t>
            </a:r>
            <a:r>
              <a:rPr lang="en-IN" i="1" dirty="0"/>
              <a:t>TensorFlow: End-to-End Machine Learning Platform</a:t>
            </a:r>
            <a:r>
              <a:rPr lang="en-IN" dirty="0"/>
              <a:t>. </a:t>
            </a:r>
          </a:p>
          <a:p>
            <a:pPr marL="285750" lvl="0" indent="-285750">
              <a:buFont typeface="Wingdings" panose="05000000000000000000" pitchFamily="2" charset="2"/>
              <a:buChar char="§"/>
            </a:pPr>
            <a:r>
              <a:rPr lang="en-IN" b="1" dirty="0"/>
              <a:t>PostgreSQL Documentation</a:t>
            </a:r>
            <a:r>
              <a:rPr lang="en-IN" dirty="0"/>
              <a:t>, </a:t>
            </a:r>
            <a:r>
              <a:rPr lang="en-IN" i="1" dirty="0"/>
              <a:t>PostgreSQL: Open-Source Relational Database System</a:t>
            </a:r>
            <a:r>
              <a:rPr lang="en-IN" dirty="0"/>
              <a:t>. </a:t>
            </a:r>
          </a:p>
          <a:p>
            <a:pPr marL="285750" lvl="0" indent="-285750">
              <a:buFont typeface="Wingdings" panose="05000000000000000000" pitchFamily="2" charset="2"/>
              <a:buChar char="§"/>
            </a:pPr>
            <a:r>
              <a:rPr lang="en-IN" b="1" dirty="0"/>
              <a:t>Grafana Documentation</a:t>
            </a:r>
            <a:r>
              <a:rPr lang="en-IN" dirty="0"/>
              <a:t>, </a:t>
            </a:r>
            <a:r>
              <a:rPr lang="en-IN" i="1" dirty="0"/>
              <a:t>Grafana: Monitoring and Data Visualization Platform</a:t>
            </a:r>
            <a:r>
              <a:rPr lang="en-IN" dirty="0"/>
              <a:t>. </a:t>
            </a:r>
          </a:p>
          <a:p>
            <a:pPr marL="285750" lvl="0" indent="-285750">
              <a:buFont typeface="Wingdings" panose="05000000000000000000" pitchFamily="2" charset="2"/>
              <a:buChar char="§"/>
            </a:pPr>
            <a:r>
              <a:rPr lang="en-IN" b="1" dirty="0"/>
              <a:t>Docker Documentation</a:t>
            </a:r>
            <a:r>
              <a:rPr lang="en-IN" dirty="0"/>
              <a:t>, </a:t>
            </a:r>
            <a:r>
              <a:rPr lang="en-IN" i="1" dirty="0"/>
              <a:t>Docker: Containerization and Application Deployment Platform</a:t>
            </a:r>
            <a:r>
              <a:rPr lang="en-IN" dirty="0"/>
              <a:t>. </a:t>
            </a:r>
          </a:p>
          <a:p>
            <a:pPr marL="285750" lvl="0" indent="-285750">
              <a:buFont typeface="Wingdings" panose="05000000000000000000" pitchFamily="2" charset="2"/>
              <a:buChar char="§"/>
            </a:pPr>
            <a:r>
              <a:rPr lang="en-IN" b="1" dirty="0"/>
              <a:t>Microsoft Azure Documentation</a:t>
            </a:r>
            <a:r>
              <a:rPr lang="en-IN" dirty="0"/>
              <a:t>, </a:t>
            </a:r>
            <a:r>
              <a:rPr lang="en-IN" i="1" dirty="0"/>
              <a:t>Azure Digital Twins Documentation</a:t>
            </a:r>
            <a:r>
              <a:rPr lang="en-IN" dirty="0"/>
              <a:t>. </a:t>
            </a:r>
          </a:p>
          <a:p>
            <a:pPr marL="285750" lvl="0" indent="-285750">
              <a:buFont typeface="Wingdings" panose="05000000000000000000" pitchFamily="2" charset="2"/>
              <a:buChar char="§"/>
            </a:pPr>
            <a:r>
              <a:rPr lang="en-IN" dirty="0"/>
              <a:t>Wolfert, S., Ge, L., </a:t>
            </a:r>
            <a:r>
              <a:rPr lang="en-IN" dirty="0" err="1"/>
              <a:t>Verdouw</a:t>
            </a:r>
            <a:r>
              <a:rPr lang="en-IN" dirty="0"/>
              <a:t>, C., &amp; </a:t>
            </a:r>
            <a:r>
              <a:rPr lang="en-IN" dirty="0" err="1"/>
              <a:t>Bogaardt</a:t>
            </a:r>
            <a:r>
              <a:rPr lang="en-IN" dirty="0"/>
              <a:t>, M. J., </a:t>
            </a:r>
            <a:r>
              <a:rPr lang="en-IN" b="1" dirty="0"/>
              <a:t>“Big Data in Smart Farming – A Review,” Agricultural Systems</a:t>
            </a:r>
            <a:r>
              <a:rPr lang="en-IN" dirty="0"/>
              <a:t>. </a:t>
            </a:r>
          </a:p>
          <a:p>
            <a:pPr marL="285750" lvl="0" indent="-285750">
              <a:buFont typeface="Wingdings" panose="05000000000000000000" pitchFamily="2" charset="2"/>
              <a:buChar char="§"/>
            </a:pPr>
            <a:r>
              <a:rPr lang="en-IN" dirty="0"/>
              <a:t>Kamienski, C. et al., </a:t>
            </a:r>
            <a:r>
              <a:rPr lang="en-IN" b="1" dirty="0"/>
              <a:t>“Smart Agriculture: A Survey of IoT-Based Agricultural Monitoring Systems.”</a:t>
            </a:r>
            <a:r>
              <a:rPr lang="en-IN" dirty="0"/>
              <a:t> </a:t>
            </a:r>
          </a:p>
          <a:p>
            <a:pPr marL="285750" lvl="0" indent="-285750">
              <a:buFont typeface="Wingdings" panose="05000000000000000000" pitchFamily="2" charset="2"/>
              <a:buChar char="§"/>
            </a:pPr>
            <a:r>
              <a:rPr lang="en-IN" dirty="0"/>
              <a:t>Richardson, C., </a:t>
            </a:r>
            <a:r>
              <a:rPr lang="en-IN" b="1" dirty="0"/>
              <a:t>Microservices Patterns: With Examples in Java</a:t>
            </a:r>
            <a:r>
              <a:rPr lang="en-IN" dirty="0"/>
              <a:t>, Manning Publications</a:t>
            </a:r>
          </a:p>
          <a:p>
            <a:pPr marL="342900" indent="-342900">
              <a:lnSpc>
                <a:spcPct val="150000"/>
              </a:lnSpc>
              <a:buFont typeface="Arial" panose="020B0604020202020204" pitchFamily="34" charset="0"/>
              <a:buChar char="•"/>
              <a:defRPr sz="1700"/>
            </a:pPr>
            <a:endParaRPr dirty="0"/>
          </a:p>
        </p:txBody>
      </p:sp>
    </p:spTree>
    <p:extLst>
      <p:ext uri="{BB962C8B-B14F-4D97-AF65-F5344CB8AC3E}">
        <p14:creationId xmlns:p14="http://schemas.microsoft.com/office/powerpoint/2010/main" val="4287357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BF0D2A-A731-CFEF-B003-CB70C474810E}"/>
              </a:ext>
            </a:extLst>
          </p:cNvPr>
          <p:cNvSpPr txBox="1"/>
          <p:nvPr/>
        </p:nvSpPr>
        <p:spPr>
          <a:xfrm>
            <a:off x="3608438" y="2323371"/>
            <a:ext cx="6941574" cy="1323439"/>
          </a:xfrm>
          <a:prstGeom prst="rect">
            <a:avLst/>
          </a:prstGeom>
          <a:noFill/>
        </p:spPr>
        <p:txBody>
          <a:bodyPr wrap="square" rtlCol="0">
            <a:spAutoFit/>
          </a:bodyPr>
          <a:lstStyle/>
          <a:p>
            <a:r>
              <a:rPr lang="en-IN" sz="8000" b="1" dirty="0"/>
              <a:t>THANK YOU</a:t>
            </a:r>
          </a:p>
        </p:txBody>
      </p:sp>
    </p:spTree>
    <p:extLst>
      <p:ext uri="{BB962C8B-B14F-4D97-AF65-F5344CB8AC3E}">
        <p14:creationId xmlns:p14="http://schemas.microsoft.com/office/powerpoint/2010/main" val="230252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1817</Words>
  <Application>Microsoft Office PowerPoint</Application>
  <PresentationFormat>Widescreen</PresentationFormat>
  <Paragraphs>177</Paragraphs>
  <Slides>14</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Nandini Jarugula</cp:lastModifiedBy>
  <cp:revision>44</cp:revision>
  <dcterms:created xsi:type="dcterms:W3CDTF">2026-08-08T06:33:56Z</dcterms:created>
  <dcterms:modified xsi:type="dcterms:W3CDTF">2026-08-20T07:59:43Z</dcterms:modified>
</cp:coreProperties>
</file>